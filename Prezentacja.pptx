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72822" autoAdjust="0"/>
  </p:normalViewPr>
  <p:slideViewPr>
    <p:cSldViewPr>
      <p:cViewPr varScale="1">
        <p:scale>
          <a:sx n="91" d="100"/>
          <a:sy n="91" d="100"/>
        </p:scale>
        <p:origin x="1176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B1578-C17D-4577-A04B-ECFF18104747}" type="datetimeFigureOut">
              <a:rPr lang="pl-PL" smtClean="0"/>
              <a:t>11.07.2024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68DA0-2823-4A23-AB52-C6ED8368238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742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l-PL" dirty="0"/>
              <a:t>Widzu, </a:t>
            </a:r>
            <a:br>
              <a:rPr lang="pl-PL" dirty="0"/>
            </a:br>
            <a:r>
              <a:rPr lang="pl-PL" dirty="0"/>
              <a:t>czy ciekawiło cię kiedyś, jak pod spodem działają systemy czasu rzeczywistego RTOS, jak to się dzieje, że mikrokontrolery, mimo jednego rdzenia, realizują wiele zadań, zachowując dokładność czasową? </a:t>
            </a:r>
            <a:br>
              <a:rPr lang="pl-PL" dirty="0"/>
            </a:br>
            <a:r>
              <a:rPr lang="pl-PL" dirty="0"/>
              <a:t>Chcesz zobaczyć w praktyce jak </a:t>
            </a:r>
            <a:r>
              <a:rPr lang="pl-PL"/>
              <a:t>zaimplementować system RTOS? </a:t>
            </a:r>
            <a:r>
              <a:rPr lang="pl-PL" dirty="0"/>
              <a:t>Jeśli tak, lub po prostu jesteś ciekawy jak działają systemy czasu rzeczywistego, to zapraszam do oglądania. </a:t>
            </a:r>
          </a:p>
          <a:p>
            <a:r>
              <a:rPr lang="pl-PL" dirty="0"/>
              <a:t>W tym video dla celów edukacyjnych przedstawię i napiszę prosty system czasu rzeczywistego( z ang. RTOS- Real </a:t>
            </a:r>
            <a:r>
              <a:rPr lang="pl-PL" dirty="0" err="1"/>
              <a:t>time</a:t>
            </a:r>
            <a:r>
              <a:rPr lang="pl-PL" dirty="0"/>
              <a:t> </a:t>
            </a:r>
            <a:r>
              <a:rPr lang="pl-PL" dirty="0" err="1"/>
              <a:t>operating</a:t>
            </a:r>
            <a:r>
              <a:rPr lang="pl-PL" dirty="0"/>
              <a:t> system). Napiszę krok po kroku system RTOS dla systemu wbudowanego jakim jest wybrany mikrokontroler stm32f1 z rdzeniem </a:t>
            </a:r>
            <a:r>
              <a:rPr lang="pl-PL" dirty="0" err="1"/>
              <a:t>arm</a:t>
            </a:r>
            <a:r>
              <a:rPr lang="pl-PL" dirty="0"/>
              <a:t> cortex-m3.</a:t>
            </a:r>
          </a:p>
          <a:p>
            <a:endParaRPr lang="pl-PL" dirty="0"/>
          </a:p>
          <a:p>
            <a:r>
              <a:rPr lang="pl-PL" dirty="0"/>
              <a:t>2. Zatem:</a:t>
            </a:r>
          </a:p>
          <a:p>
            <a:r>
              <a:rPr lang="pl-PL" dirty="0"/>
              <a:t>Naszym finalnym rezultatem będzie prosty system czasu rzeczywistego, które będzie przełączać kontekst pomiędzy 3 zadaniami, za pomocą przerwań od zegara systemowego „</a:t>
            </a:r>
            <a:r>
              <a:rPr lang="pl-PL" dirty="0" err="1"/>
              <a:t>SysTick</a:t>
            </a:r>
            <a:r>
              <a:rPr lang="pl-PL" dirty="0"/>
              <a:t>”. </a:t>
            </a:r>
          </a:p>
          <a:p>
            <a:endParaRPr lang="pl-PL" dirty="0"/>
          </a:p>
          <a:p>
            <a:r>
              <a:rPr lang="pl-PL" dirty="0"/>
              <a:t>Będzie to rozwiązanie wyłącznie demonstracyjne i edukacyjne. </a:t>
            </a:r>
          </a:p>
          <a:p>
            <a:r>
              <a:rPr lang="pl-PL" dirty="0"/>
              <a:t>Podczas video omówię podstawowa niezbędną teorie do realizacji tego zadania oraz skonfiguruje wygodne środowisko w </a:t>
            </a:r>
            <a:r>
              <a:rPr lang="pl-PL" dirty="0" err="1"/>
              <a:t>visual</a:t>
            </a:r>
            <a:r>
              <a:rPr lang="pl-PL" dirty="0"/>
              <a:t> studio </a:t>
            </a:r>
            <a:r>
              <a:rPr lang="pl-PL" dirty="0" err="1"/>
              <a:t>code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68DA0-2823-4A23-AB52-C6ED8368238E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7507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1.1 </a:t>
            </a:r>
          </a:p>
          <a:p>
            <a:r>
              <a:rPr lang="pl-PL" dirty="0"/>
              <a:t>Zademonstruje na przykładzie i opiszę w jaki sposób pod spodem typowego RTOS zachodzi zmiana kontekstu. Czyli przełączanie się pomiędzy zadaniami w systemie czasu rzeczywistego. Przedstawię to na najniższym możliwym poziomie, więc po obejrzeniu tego video nie będziesz miał wątpliwości jak w praktyce działają niemal wszystkie systemy czasu rzeczywistego RTOS. </a:t>
            </a:r>
          </a:p>
          <a:p>
            <a:r>
              <a:rPr lang="pl-PL" dirty="0"/>
              <a:t>Aby uczynić to zadanie możliwie prostym,  okrężną zmianę kontekstu, zrealizujemy w przerwaniu od zegara systemowego „</a:t>
            </a:r>
            <a:r>
              <a:rPr lang="pl-PL" dirty="0" err="1"/>
              <a:t>SysTick</a:t>
            </a:r>
            <a:r>
              <a:rPr lang="pl-PL" dirty="0"/>
              <a:t>. 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68DA0-2823-4A23-AB52-C6ED8368238E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6128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Tyle tytułem wstępu, zanim jednak zaczniemy, odpowiedzmy na podstawowe pytanie „Po co RTOS” …</a:t>
            </a:r>
          </a:p>
          <a:p>
            <a:endParaRPr lang="pl-PL" dirty="0"/>
          </a:p>
          <a:p>
            <a:r>
              <a:rPr lang="pl-PL" dirty="0"/>
              <a:t>Z mojej praktyki, gdy pisałem oprogramowanie hobbystycznie, nie zdarzyło mi się nigdy aby wykorzystanie RTOS było niezbędne. Jednak pisząc komercyjne oprogramowanie, zwłaszcza takie które musi gwarantować realizacje pewnych zadań w określonych przedziałach lub cyklach czasowych, skorzystanie z systemu RTOS może okazać się niezbędne. Zastosowanie systemu RTOS to też czytelniejsza modułowość, oraz niezależność poszczególnych komponentów oprogramowania. To znaczy że łatwiej zastosować strategie „dziel i rządź” co w przypadku komercyjnego oprogramowania ułatwia prace.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68DA0-2823-4A23-AB52-C6ED8368238E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9466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l-PL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1E02-25CB-4963-84BC-0813985E7D90}" type="datetimeFigureOut">
              <a:rPr lang="pl-PL" smtClean="0"/>
              <a:pPr/>
              <a:t>11.07.2024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B7C76-EFF2-4CD8-A475-4750F11B4BC6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crochip-mplab-harmony.github.io/core_apps_pic32mk/apps/rtos/freertos/basic_freertos/readme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otland.com.pl/stm32-nucleo/2238-stm32-nucleo-f103rb-stm32f103rbt6-arm-cortex-m3-5904422330644.html?cd=18298825138&amp;ad=&amp;kd=&amp;gad_source=1&amp;gclid=CjwKCAjw4ri0BhAvEiwA8oo6F_SRD-8l_qNvc8M1gsqMwW8voTPE2228aUUik1-Fn8sr_61w3IoJqhoCxpEQAvD_Bw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.com/resource/en/programming_manual/pm0056-stm32f10xxx20xxx21xxxl1xxxx-cortexm3-programming-manual-stmicroelectronics.pdf" TargetMode="External"/><Relationship Id="rId2" Type="http://schemas.openxmlformats.org/officeDocument/2006/relationships/hyperlink" Target="https://www.st.com/en/microcontrollers-microprocessors/stm32f103rb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238744" y="2427884"/>
            <a:ext cx="4480080" cy="4430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ytuł 4"/>
          <p:cNvSpPr txBox="1">
            <a:spLocks noGrp="1"/>
          </p:cNvSpPr>
          <p:nvPr>
            <p:ph type="title"/>
          </p:nvPr>
        </p:nvSpPr>
        <p:spPr>
          <a:xfrm>
            <a:off x="1804308" y="2"/>
            <a:ext cx="836365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500" b="1" dirty="0">
                <a:solidFill>
                  <a:srgbClr val="E0125C"/>
                </a:solidFill>
                <a:latin typeface="Berlin Sans FB" pitchFamily="34" charset="0"/>
              </a:rPr>
              <a:t>Napiszmy własnego </a:t>
            </a:r>
            <a:r>
              <a:rPr lang="pl-PL" sz="4500" b="1" dirty="0" err="1">
                <a:solidFill>
                  <a:srgbClr val="E0125C"/>
                </a:solidFill>
                <a:latin typeface="Berlin Sans FB" pitchFamily="34" charset="0"/>
              </a:rPr>
              <a:t>RTOS’a</a:t>
            </a:r>
            <a:r>
              <a:rPr lang="pl-PL" sz="4500" b="1" dirty="0">
                <a:solidFill>
                  <a:srgbClr val="E0125C"/>
                </a:solidFill>
                <a:latin typeface="Berlin Sans FB" pitchFamily="34" charset="0"/>
              </a:rPr>
              <a:t>!</a:t>
            </a:r>
          </a:p>
          <a:p>
            <a:pPr algn="ctr"/>
            <a:r>
              <a:rPr lang="pl-PL" sz="4500" b="1" dirty="0">
                <a:latin typeface="Berlin Sans FB" pitchFamily="34" charset="0"/>
              </a:rPr>
              <a:t>OD ZERA!</a:t>
            </a:r>
          </a:p>
          <a:p>
            <a:pPr algn="ctr"/>
            <a:r>
              <a:rPr lang="pl-PL" sz="4500" b="1" dirty="0">
                <a:solidFill>
                  <a:srgbClr val="0070C0"/>
                </a:solidFill>
                <a:latin typeface="Berlin Sans FB" pitchFamily="34" charset="0"/>
              </a:rPr>
              <a:t>STM32 Cortex-M4 </a:t>
            </a:r>
            <a:r>
              <a:rPr lang="pl-PL" sz="4500" b="1" dirty="0" err="1">
                <a:solidFill>
                  <a:srgbClr val="0070C0"/>
                </a:solidFill>
                <a:latin typeface="Berlin Sans FB" pitchFamily="34" charset="0"/>
              </a:rPr>
              <a:t>Own</a:t>
            </a:r>
            <a:r>
              <a:rPr lang="pl-PL" sz="4500" b="1" dirty="0">
                <a:solidFill>
                  <a:srgbClr val="0070C0"/>
                </a:solidFill>
                <a:latin typeface="Berlin Sans FB" pitchFamily="34" charset="0"/>
              </a:rPr>
              <a:t> RTOS!</a:t>
            </a:r>
          </a:p>
        </p:txBody>
      </p:sp>
      <p:pic>
        <p:nvPicPr>
          <p:cNvPr id="7" name="Picture 5" descr="A close-up of a computer chip&#10;&#10;Description automatically generated">
            <a:extLst>
              <a:ext uri="{FF2B5EF4-FFF2-40B4-BE49-F238E27FC236}">
                <a16:creationId xmlns:a16="http://schemas.microsoft.com/office/drawing/2014/main" id="{1D109E89-D225-7F32-3AD9-4C232AC89C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3137296"/>
            <a:ext cx="3204677" cy="3011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i="1" dirty="0"/>
              <a:t>Jak wygląda zadanie (</a:t>
            </a:r>
            <a:r>
              <a:rPr lang="pl-PL" b="1" i="1" dirty="0" err="1"/>
              <a:t>Task</a:t>
            </a:r>
            <a:r>
              <a:rPr lang="pl-PL" b="1" i="1" dirty="0"/>
              <a:t>) w kodzie?</a:t>
            </a:r>
          </a:p>
        </p:txBody>
      </p:sp>
      <p:sp>
        <p:nvSpPr>
          <p:cNvPr id="5" name="pole tekstowe 4"/>
          <p:cNvSpPr txBox="1"/>
          <p:nvPr/>
        </p:nvSpPr>
        <p:spPr>
          <a:xfrm>
            <a:off x="474506" y="3501008"/>
            <a:ext cx="2214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Upraszczając:</a:t>
            </a:r>
          </a:p>
          <a:p>
            <a:r>
              <a:rPr lang="pl-PL" dirty="0"/>
              <a:t>Przeważnie będzie to nieskończona pętla </a:t>
            </a:r>
            <a:r>
              <a:rPr lang="pl-PL" dirty="0">
                <a:sym typeface="Wingdings" pitchFamily="2" charset="2"/>
              </a:rPr>
              <a:t> 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37EBC5D-087A-24FD-2F49-F58252A89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1484784"/>
            <a:ext cx="7287642" cy="47060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Po co RTOS? </a:t>
            </a:r>
            <a:br>
              <a:rPr lang="pl-PL" dirty="0"/>
            </a:br>
            <a:r>
              <a:rPr lang="pl-PL" sz="1300" dirty="0"/>
              <a:t>System operacyjny czasu rzeczywistego</a:t>
            </a:r>
            <a:br>
              <a:rPr lang="pl-PL" sz="1300" dirty="0"/>
            </a:br>
            <a:r>
              <a:rPr lang="pl-PL" sz="1300" dirty="0"/>
              <a:t> (ang. Real-Time </a:t>
            </a:r>
            <a:r>
              <a:rPr lang="pl-PL" sz="1300" dirty="0" err="1"/>
              <a:t>Operating</a:t>
            </a:r>
            <a:r>
              <a:rPr lang="pl-PL" sz="1300" dirty="0"/>
              <a:t> System - RTOS) 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952596" y="1428736"/>
            <a:ext cx="8229600" cy="100013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1600" b="1" dirty="0"/>
              <a:t>RTOS używamy w celu zapewnienia realizacji wymagań czasowych zadań, wykonywanych przez oprogramowanie. </a:t>
            </a:r>
          </a:p>
          <a:p>
            <a:pPr>
              <a:buNone/>
            </a:pPr>
            <a:r>
              <a:rPr lang="pl-PL" sz="1600" b="1" dirty="0"/>
              <a:t>Realizacja tych wymagań może być nie możliwa lub utrudniona, pisząc oprogramowanie na gołym metalu (ang. </a:t>
            </a:r>
            <a:r>
              <a:rPr lang="pl-PL" sz="1600" b="1" dirty="0" err="1"/>
              <a:t>Bare</a:t>
            </a:r>
            <a:r>
              <a:rPr lang="pl-PL" sz="1600" b="1" dirty="0"/>
              <a:t> Metal), czyli bez systemu RTOS.</a:t>
            </a:r>
          </a:p>
        </p:txBody>
      </p:sp>
      <p:pic>
        <p:nvPicPr>
          <p:cNvPr id="16386" name="Picture 2" descr="https://microchip-mplab-harmony.github.io/core_apps_pic32mk/apps/rtos/freertos/basic_freertos/images/task_switchin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95605" y="2857496"/>
            <a:ext cx="5505433" cy="3145962"/>
          </a:xfrm>
          <a:prstGeom prst="rect">
            <a:avLst/>
          </a:prstGeom>
          <a:noFill/>
        </p:spPr>
      </p:pic>
      <p:sp>
        <p:nvSpPr>
          <p:cNvPr id="6" name="pole tekstowe 5"/>
          <p:cNvSpPr txBox="1"/>
          <p:nvPr/>
        </p:nvSpPr>
        <p:spPr>
          <a:xfrm>
            <a:off x="2388355" y="5968841"/>
            <a:ext cx="7358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/>
              <a:t>Źródło:</a:t>
            </a:r>
            <a:br>
              <a:rPr lang="pl-PL" sz="1200" dirty="0"/>
            </a:br>
            <a:r>
              <a:rPr lang="pl-PL" sz="1200" dirty="0">
                <a:hlinkClick r:id="rId4"/>
              </a:rPr>
              <a:t>https://microchip-mplab-harmony.github.io/core_apps_pic32mk/apps/rtos/freertos/basic_freertos/readme.html</a:t>
            </a:r>
            <a:r>
              <a:rPr lang="pl-PL" sz="1200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b="1" i="1" dirty="0">
                <a:solidFill>
                  <a:srgbClr val="FF3399"/>
                </a:solidFill>
                <a:latin typeface="Berlin Sans FB" pitchFamily="34" charset="0"/>
              </a:rPr>
              <a:t>Napiszmy razem prosty system czasu rzeczywistego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1666844" y="1600201"/>
            <a:ext cx="8501122" cy="3471874"/>
          </a:xfrm>
        </p:spPr>
        <p:txBody>
          <a:bodyPr>
            <a:normAutofit/>
          </a:bodyPr>
          <a:lstStyle/>
          <a:p>
            <a:r>
              <a:rPr lang="pl-PL" dirty="0"/>
              <a:t>Wybrany sprzęt do realizacji postawionego celu:</a:t>
            </a:r>
          </a:p>
          <a:p>
            <a:pPr>
              <a:buNone/>
            </a:pPr>
            <a:r>
              <a:rPr lang="pl-PL" sz="1200" b="1" dirty="0"/>
              <a:t>STM32 NUCLEO-F103RB - STM32F103RBT6 ARM </a:t>
            </a:r>
            <a:r>
              <a:rPr lang="pl-PL" sz="1200" b="1" dirty="0" err="1"/>
              <a:t>Cortex</a:t>
            </a:r>
            <a:r>
              <a:rPr lang="pl-PL" sz="1200" b="1" dirty="0"/>
              <a:t> M3</a:t>
            </a:r>
          </a:p>
          <a:p>
            <a:pPr>
              <a:buNone/>
            </a:pPr>
            <a:r>
              <a:rPr lang="pl-PL" sz="1200" dirty="0">
                <a:hlinkClick r:id="rId2"/>
              </a:rPr>
              <a:t>https://botland.com.pl/stm32-nucleo/2238-stm32-nucleo-f103rb-stm32f103rbt6-arm-cortex-m3-5904422330644.html?cd=18298825138&amp;ad=&amp;kd=&amp;gad_source=1&amp;gclid=CjwKCAjw4ri0BhAvEiwA8oo6F_SRD-8l_qNvc8M1gsqMwW8voTPE2228aUUik1-Fn8sr_61w3IoJqhoCxpEQAvD_BwE</a:t>
            </a:r>
            <a:r>
              <a:rPr lang="pl-PL" sz="1200" dirty="0"/>
              <a:t> </a:t>
            </a:r>
          </a:p>
          <a:p>
            <a:pPr>
              <a:buNone/>
            </a:pPr>
            <a:endParaRPr lang="pl-PL" sz="1200" b="1" dirty="0"/>
          </a:p>
          <a:p>
            <a:pPr>
              <a:buNone/>
            </a:pPr>
            <a:endParaRPr lang="pl-PL" sz="1200" b="1" dirty="0"/>
          </a:p>
          <a:p>
            <a:pPr>
              <a:buNone/>
            </a:pPr>
            <a:r>
              <a:rPr lang="pl-PL" sz="1200" dirty="0"/>
              <a:t>Możemy użyć niemal dowolną płytkę ewaluacyjną, nie koniecznie nawet STM32,</a:t>
            </a:r>
          </a:p>
          <a:p>
            <a:pPr>
              <a:buNone/>
            </a:pPr>
            <a:r>
              <a:rPr lang="pl-PL" sz="1200" dirty="0"/>
              <a:t>ważne jest aby był tam rdzeń </a:t>
            </a:r>
            <a:r>
              <a:rPr lang="pl-PL" sz="1200" dirty="0" err="1"/>
              <a:t>ARM-CORTEX</a:t>
            </a:r>
            <a:r>
              <a:rPr lang="pl-PL" sz="1200" dirty="0"/>
              <a:t> M3/M4. </a:t>
            </a:r>
          </a:p>
          <a:p>
            <a:pPr>
              <a:buNone/>
            </a:pPr>
            <a:r>
              <a:rPr lang="pl-PL" sz="1200" dirty="0"/>
              <a:t>Będziemy korzystać z podstawowych funkcjonalności tych </a:t>
            </a:r>
          </a:p>
          <a:p>
            <a:pPr>
              <a:buNone/>
            </a:pPr>
            <a:r>
              <a:rPr lang="pl-PL" sz="1200" dirty="0"/>
              <a:t>rdzeni, i na tym poziomie one się nie różnią.</a:t>
            </a:r>
          </a:p>
          <a:p>
            <a:pPr>
              <a:buNone/>
            </a:pPr>
            <a:endParaRPr lang="pl-PL" sz="1200" dirty="0"/>
          </a:p>
          <a:p>
            <a:pPr>
              <a:buNone/>
            </a:pPr>
            <a:endParaRPr lang="pl-PL" sz="1200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58170" y="2714621"/>
            <a:ext cx="2509831" cy="2128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Dokumentacje mikrokontrolera: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024034" y="1571613"/>
            <a:ext cx="8229600" cy="1214446"/>
          </a:xfrm>
        </p:spPr>
        <p:txBody>
          <a:bodyPr>
            <a:normAutofit/>
          </a:bodyPr>
          <a:lstStyle/>
          <a:p>
            <a:r>
              <a:rPr lang="pl-PL" sz="1200" dirty="0">
                <a:hlinkClick r:id="rId2"/>
              </a:rPr>
              <a:t>https://www.st.com/en/microcontrollers-microprocessors/stm32f103rb.html</a:t>
            </a:r>
            <a:r>
              <a:rPr lang="pl-PL" sz="1200" dirty="0"/>
              <a:t> </a:t>
            </a:r>
          </a:p>
          <a:p>
            <a:endParaRPr lang="pl-PL" sz="1200" dirty="0"/>
          </a:p>
          <a:p>
            <a:r>
              <a:rPr lang="pl-PL" sz="1200" dirty="0">
                <a:hlinkClick r:id="rId3"/>
              </a:rPr>
              <a:t>https://www.st.com/resource/en/programming_manual/pm0056-stm32f10xxx20xxx21xxxl1xxxx-cortexm3-programming-manual-stmicroelectronics.pdf</a:t>
            </a:r>
            <a:r>
              <a:rPr lang="pl-PL" sz="1200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381884" y="1500174"/>
            <a:ext cx="3186106" cy="868346"/>
          </a:xfrm>
        </p:spPr>
        <p:txBody>
          <a:bodyPr>
            <a:normAutofit/>
          </a:bodyPr>
          <a:lstStyle/>
          <a:p>
            <a:r>
              <a:rPr lang="pl-PL" dirty="0" err="1"/>
              <a:t>Page</a:t>
            </a:r>
            <a:r>
              <a:rPr lang="pl-PL" dirty="0"/>
              <a:t>. 18</a:t>
            </a: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52597" y="714357"/>
            <a:ext cx="475373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95472" y="142853"/>
            <a:ext cx="5468114" cy="2333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66911" y="2285993"/>
            <a:ext cx="56483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pole tekstowe 6"/>
          <p:cNvSpPr txBox="1"/>
          <p:nvPr/>
        </p:nvSpPr>
        <p:spPr>
          <a:xfrm>
            <a:off x="8096265" y="571480"/>
            <a:ext cx="97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Page</a:t>
            </a:r>
            <a:r>
              <a:rPr lang="pl-PL" dirty="0"/>
              <a:t>.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95472" y="571480"/>
            <a:ext cx="5258534" cy="259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pole tekstowe 4"/>
          <p:cNvSpPr txBox="1"/>
          <p:nvPr/>
        </p:nvSpPr>
        <p:spPr>
          <a:xfrm>
            <a:off x="8096265" y="571480"/>
            <a:ext cx="97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Page</a:t>
            </a:r>
            <a:r>
              <a:rPr lang="pl-PL" dirty="0"/>
              <a:t>.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/>
          <p:cNvSpPr/>
          <p:nvPr/>
        </p:nvSpPr>
        <p:spPr>
          <a:xfrm>
            <a:off x="1809720" y="785794"/>
            <a:ext cx="2643206" cy="5857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 6"/>
          <p:cNvSpPr/>
          <p:nvPr/>
        </p:nvSpPr>
        <p:spPr>
          <a:xfrm>
            <a:off x="1809720" y="785794"/>
            <a:ext cx="2643206" cy="1000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Stack</a:t>
            </a:r>
            <a:endParaRPr lang="pl-PL" dirty="0"/>
          </a:p>
        </p:txBody>
      </p:sp>
      <p:sp>
        <p:nvSpPr>
          <p:cNvPr id="8" name="Prostokąt 7"/>
          <p:cNvSpPr/>
          <p:nvPr/>
        </p:nvSpPr>
        <p:spPr>
          <a:xfrm>
            <a:off x="1809720" y="1785926"/>
            <a:ext cx="2643206" cy="1714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Free</a:t>
            </a:r>
            <a:r>
              <a:rPr lang="pl-PL" dirty="0"/>
              <a:t> </a:t>
            </a:r>
            <a:r>
              <a:rPr lang="pl-PL" dirty="0" err="1"/>
              <a:t>space</a:t>
            </a:r>
            <a:endParaRPr lang="pl-PL" dirty="0"/>
          </a:p>
        </p:txBody>
      </p:sp>
      <p:sp>
        <p:nvSpPr>
          <p:cNvPr id="9" name="Prostokąt 8"/>
          <p:cNvSpPr/>
          <p:nvPr/>
        </p:nvSpPr>
        <p:spPr>
          <a:xfrm>
            <a:off x="1809720" y="3500438"/>
            <a:ext cx="2643206" cy="1571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Free</a:t>
            </a:r>
            <a:r>
              <a:rPr lang="pl-PL" dirty="0"/>
              <a:t> </a:t>
            </a:r>
            <a:r>
              <a:rPr lang="pl-PL" dirty="0" err="1"/>
              <a:t>space</a:t>
            </a:r>
            <a:endParaRPr lang="pl-PL" dirty="0"/>
          </a:p>
        </p:txBody>
      </p:sp>
      <p:sp>
        <p:nvSpPr>
          <p:cNvPr id="10" name="Prostokąt 9"/>
          <p:cNvSpPr/>
          <p:nvPr/>
        </p:nvSpPr>
        <p:spPr>
          <a:xfrm>
            <a:off x="1809720" y="5072074"/>
            <a:ext cx="2643206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Heap</a:t>
            </a:r>
            <a:endParaRPr lang="pl-PL" dirty="0"/>
          </a:p>
        </p:txBody>
      </p:sp>
      <p:sp>
        <p:nvSpPr>
          <p:cNvPr id="11" name="Prostokąt 10"/>
          <p:cNvSpPr/>
          <p:nvPr/>
        </p:nvSpPr>
        <p:spPr>
          <a:xfrm>
            <a:off x="1809720" y="6357958"/>
            <a:ext cx="2643206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Code</a:t>
            </a:r>
            <a:r>
              <a:rPr lang="pl-PL" dirty="0"/>
              <a:t> segment (.</a:t>
            </a:r>
            <a:r>
              <a:rPr lang="pl-PL" dirty="0" err="1"/>
              <a:t>text</a:t>
            </a:r>
            <a:r>
              <a:rPr lang="pl-PL" dirty="0"/>
              <a:t>)</a:t>
            </a:r>
          </a:p>
        </p:txBody>
      </p:sp>
      <p:sp>
        <p:nvSpPr>
          <p:cNvPr id="12" name="Prostokąt 11"/>
          <p:cNvSpPr/>
          <p:nvPr/>
        </p:nvSpPr>
        <p:spPr>
          <a:xfrm>
            <a:off x="1809720" y="6072206"/>
            <a:ext cx="2643206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Initialized</a:t>
            </a:r>
            <a:r>
              <a:rPr lang="pl-PL" dirty="0"/>
              <a:t> data (.</a:t>
            </a:r>
            <a:r>
              <a:rPr lang="pl-PL" dirty="0" err="1"/>
              <a:t>data</a:t>
            </a:r>
            <a:r>
              <a:rPr lang="pl-PL" dirty="0"/>
              <a:t>)</a:t>
            </a:r>
          </a:p>
        </p:txBody>
      </p:sp>
      <p:sp>
        <p:nvSpPr>
          <p:cNvPr id="13" name="Prostokąt 12"/>
          <p:cNvSpPr/>
          <p:nvPr/>
        </p:nvSpPr>
        <p:spPr>
          <a:xfrm>
            <a:off x="1809720" y="5786454"/>
            <a:ext cx="2643206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Uninitialized</a:t>
            </a:r>
            <a:r>
              <a:rPr lang="pl-PL" dirty="0"/>
              <a:t> data (.</a:t>
            </a:r>
            <a:r>
              <a:rPr lang="pl-PL" dirty="0" err="1"/>
              <a:t>bss</a:t>
            </a:r>
            <a:r>
              <a:rPr lang="pl-PL" dirty="0"/>
              <a:t>)</a:t>
            </a:r>
          </a:p>
        </p:txBody>
      </p:sp>
      <p:sp>
        <p:nvSpPr>
          <p:cNvPr id="14" name="Strzałka w dół 13"/>
          <p:cNvSpPr/>
          <p:nvPr/>
        </p:nvSpPr>
        <p:spPr>
          <a:xfrm>
            <a:off x="4524364" y="1000108"/>
            <a:ext cx="214314" cy="10715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Strzałka w dół 14"/>
          <p:cNvSpPr/>
          <p:nvPr/>
        </p:nvSpPr>
        <p:spPr>
          <a:xfrm rot="10800000">
            <a:off x="4667240" y="4643446"/>
            <a:ext cx="214314" cy="10001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/>
          <p:cNvSpPr txBox="1"/>
          <p:nvPr/>
        </p:nvSpPr>
        <p:spPr>
          <a:xfrm>
            <a:off x="4881554" y="4857760"/>
            <a:ext cx="80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Rośnie</a:t>
            </a:r>
          </a:p>
        </p:txBody>
      </p:sp>
      <p:sp>
        <p:nvSpPr>
          <p:cNvPr id="18" name="pole tekstowe 17"/>
          <p:cNvSpPr txBox="1"/>
          <p:nvPr/>
        </p:nvSpPr>
        <p:spPr>
          <a:xfrm>
            <a:off x="4738678" y="1357298"/>
            <a:ext cx="80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Rośnie</a:t>
            </a:r>
          </a:p>
        </p:txBody>
      </p:sp>
      <p:sp>
        <p:nvSpPr>
          <p:cNvPr id="19" name="Prostokąt 18"/>
          <p:cNvSpPr/>
          <p:nvPr/>
        </p:nvSpPr>
        <p:spPr>
          <a:xfrm>
            <a:off x="6596066" y="714356"/>
            <a:ext cx="2643206" cy="58579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rostokąt 19"/>
          <p:cNvSpPr/>
          <p:nvPr/>
        </p:nvSpPr>
        <p:spPr>
          <a:xfrm>
            <a:off x="6596066" y="714356"/>
            <a:ext cx="2643206" cy="1000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Stack</a:t>
            </a:r>
            <a:endParaRPr lang="pl-PL" dirty="0"/>
          </a:p>
        </p:txBody>
      </p:sp>
      <p:sp>
        <p:nvSpPr>
          <p:cNvPr id="21" name="Prostokąt 20"/>
          <p:cNvSpPr/>
          <p:nvPr/>
        </p:nvSpPr>
        <p:spPr>
          <a:xfrm>
            <a:off x="6596066" y="1714488"/>
            <a:ext cx="2643206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Free</a:t>
            </a:r>
            <a:r>
              <a:rPr lang="pl-PL" dirty="0"/>
              <a:t> </a:t>
            </a:r>
            <a:r>
              <a:rPr lang="pl-PL" dirty="0" err="1"/>
              <a:t>space</a:t>
            </a:r>
            <a:endParaRPr lang="pl-PL" dirty="0"/>
          </a:p>
        </p:txBody>
      </p:sp>
      <p:sp>
        <p:nvSpPr>
          <p:cNvPr id="22" name="Prostokąt 21"/>
          <p:cNvSpPr/>
          <p:nvPr/>
        </p:nvSpPr>
        <p:spPr>
          <a:xfrm>
            <a:off x="6596066" y="2500306"/>
            <a:ext cx="2643206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Free</a:t>
            </a:r>
            <a:r>
              <a:rPr lang="pl-PL" dirty="0"/>
              <a:t> </a:t>
            </a:r>
            <a:r>
              <a:rPr lang="pl-PL" dirty="0" err="1"/>
              <a:t>space</a:t>
            </a:r>
            <a:endParaRPr lang="pl-PL" dirty="0"/>
          </a:p>
        </p:txBody>
      </p:sp>
      <p:sp>
        <p:nvSpPr>
          <p:cNvPr id="23" name="Prostokąt 22"/>
          <p:cNvSpPr/>
          <p:nvPr/>
        </p:nvSpPr>
        <p:spPr>
          <a:xfrm>
            <a:off x="6596066" y="3143248"/>
            <a:ext cx="264320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Heap</a:t>
            </a:r>
            <a:endParaRPr lang="pl-PL" dirty="0"/>
          </a:p>
        </p:txBody>
      </p:sp>
      <p:sp>
        <p:nvSpPr>
          <p:cNvPr id="24" name="Prostokąt 23"/>
          <p:cNvSpPr/>
          <p:nvPr/>
        </p:nvSpPr>
        <p:spPr>
          <a:xfrm>
            <a:off x="6596066" y="6286520"/>
            <a:ext cx="2643206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Code</a:t>
            </a:r>
            <a:r>
              <a:rPr lang="pl-PL" dirty="0"/>
              <a:t> segment (.</a:t>
            </a:r>
            <a:r>
              <a:rPr lang="pl-PL" dirty="0" err="1"/>
              <a:t>text</a:t>
            </a:r>
            <a:r>
              <a:rPr lang="pl-PL" dirty="0"/>
              <a:t>)</a:t>
            </a:r>
          </a:p>
        </p:txBody>
      </p:sp>
      <p:sp>
        <p:nvSpPr>
          <p:cNvPr id="25" name="Prostokąt 24"/>
          <p:cNvSpPr/>
          <p:nvPr/>
        </p:nvSpPr>
        <p:spPr>
          <a:xfrm>
            <a:off x="6596066" y="6000768"/>
            <a:ext cx="2643206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Initialized</a:t>
            </a:r>
            <a:r>
              <a:rPr lang="pl-PL" dirty="0"/>
              <a:t> data (.</a:t>
            </a:r>
            <a:r>
              <a:rPr lang="pl-PL" dirty="0" err="1"/>
              <a:t>data</a:t>
            </a:r>
            <a:r>
              <a:rPr lang="pl-PL" dirty="0"/>
              <a:t>)</a:t>
            </a:r>
          </a:p>
        </p:txBody>
      </p:sp>
      <p:sp>
        <p:nvSpPr>
          <p:cNvPr id="26" name="Prostokąt 25"/>
          <p:cNvSpPr/>
          <p:nvPr/>
        </p:nvSpPr>
        <p:spPr>
          <a:xfrm>
            <a:off x="6596066" y="5715016"/>
            <a:ext cx="2643206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Uninitialized</a:t>
            </a:r>
            <a:r>
              <a:rPr lang="pl-PL" dirty="0"/>
              <a:t> data (.</a:t>
            </a:r>
            <a:r>
              <a:rPr lang="pl-PL" dirty="0" err="1"/>
              <a:t>bss</a:t>
            </a:r>
            <a:r>
              <a:rPr lang="pl-PL" dirty="0"/>
              <a:t>)</a:t>
            </a:r>
          </a:p>
        </p:txBody>
      </p:sp>
      <p:sp>
        <p:nvSpPr>
          <p:cNvPr id="27" name="Strzałka w dół 26"/>
          <p:cNvSpPr/>
          <p:nvPr/>
        </p:nvSpPr>
        <p:spPr>
          <a:xfrm>
            <a:off x="8810644" y="1000108"/>
            <a:ext cx="214314" cy="1071570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Strzałka w dół 27"/>
          <p:cNvSpPr/>
          <p:nvPr/>
        </p:nvSpPr>
        <p:spPr>
          <a:xfrm rot="10800000">
            <a:off x="8882082" y="2857496"/>
            <a:ext cx="214314" cy="78581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pole tekstowe 28"/>
          <p:cNvSpPr txBox="1"/>
          <p:nvPr/>
        </p:nvSpPr>
        <p:spPr>
          <a:xfrm>
            <a:off x="9167834" y="2857496"/>
            <a:ext cx="80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Rośnie</a:t>
            </a:r>
          </a:p>
        </p:txBody>
      </p:sp>
      <p:sp>
        <p:nvSpPr>
          <p:cNvPr id="30" name="pole tekstowe 29"/>
          <p:cNvSpPr txBox="1"/>
          <p:nvPr/>
        </p:nvSpPr>
        <p:spPr>
          <a:xfrm>
            <a:off x="9096396" y="1285860"/>
            <a:ext cx="80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Rośnie</a:t>
            </a:r>
          </a:p>
        </p:txBody>
      </p:sp>
      <p:sp>
        <p:nvSpPr>
          <p:cNvPr id="31" name="Prostokąt 30"/>
          <p:cNvSpPr/>
          <p:nvPr/>
        </p:nvSpPr>
        <p:spPr>
          <a:xfrm>
            <a:off x="6596066" y="4714884"/>
            <a:ext cx="2643206" cy="10001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Task2 </a:t>
            </a:r>
            <a:r>
              <a:rPr lang="pl-PL" dirty="0" err="1"/>
              <a:t>stack</a:t>
            </a:r>
            <a:r>
              <a:rPr lang="pl-PL" dirty="0"/>
              <a:t> </a:t>
            </a:r>
          </a:p>
          <a:p>
            <a:pPr algn="ctr"/>
            <a:endParaRPr lang="pl-PL" dirty="0"/>
          </a:p>
          <a:p>
            <a:pPr algn="ctr"/>
            <a:endParaRPr lang="pl-PL" dirty="0"/>
          </a:p>
        </p:txBody>
      </p:sp>
      <p:sp>
        <p:nvSpPr>
          <p:cNvPr id="32" name="pole tekstowe 31"/>
          <p:cNvSpPr txBox="1"/>
          <p:nvPr/>
        </p:nvSpPr>
        <p:spPr>
          <a:xfrm>
            <a:off x="6596066" y="3714752"/>
            <a:ext cx="264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 dirty="0"/>
          </a:p>
        </p:txBody>
      </p:sp>
      <p:sp>
        <p:nvSpPr>
          <p:cNvPr id="33" name="Prostokąt 32"/>
          <p:cNvSpPr/>
          <p:nvPr/>
        </p:nvSpPr>
        <p:spPr>
          <a:xfrm>
            <a:off x="6596066" y="3714752"/>
            <a:ext cx="2643206" cy="10001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Task1 </a:t>
            </a:r>
            <a:r>
              <a:rPr lang="pl-PL" dirty="0" err="1"/>
              <a:t>stack</a:t>
            </a:r>
            <a:r>
              <a:rPr lang="pl-PL" dirty="0"/>
              <a:t> </a:t>
            </a:r>
          </a:p>
          <a:p>
            <a:pPr algn="ctr"/>
            <a:endParaRPr lang="pl-PL" dirty="0"/>
          </a:p>
          <a:p>
            <a:pPr algn="ctr"/>
            <a:endParaRPr lang="pl-PL" dirty="0"/>
          </a:p>
        </p:txBody>
      </p:sp>
      <p:sp>
        <p:nvSpPr>
          <p:cNvPr id="34" name="Strzałka w dół 33"/>
          <p:cNvSpPr/>
          <p:nvPr/>
        </p:nvSpPr>
        <p:spPr>
          <a:xfrm>
            <a:off x="8882082" y="3929066"/>
            <a:ext cx="214314" cy="571504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5" name="Strzałka w dół 34"/>
          <p:cNvSpPr/>
          <p:nvPr/>
        </p:nvSpPr>
        <p:spPr>
          <a:xfrm>
            <a:off x="8882082" y="4857760"/>
            <a:ext cx="214314" cy="571504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6" name="pole tekstowe 35"/>
          <p:cNvSpPr txBox="1"/>
          <p:nvPr/>
        </p:nvSpPr>
        <p:spPr>
          <a:xfrm>
            <a:off x="9096396" y="3929066"/>
            <a:ext cx="80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Rośnie</a:t>
            </a:r>
          </a:p>
        </p:txBody>
      </p:sp>
      <p:sp>
        <p:nvSpPr>
          <p:cNvPr id="37" name="pole tekstowe 36"/>
          <p:cNvSpPr txBox="1"/>
          <p:nvPr/>
        </p:nvSpPr>
        <p:spPr>
          <a:xfrm>
            <a:off x="9096396" y="4929198"/>
            <a:ext cx="80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Rośnie</a:t>
            </a:r>
          </a:p>
        </p:txBody>
      </p:sp>
      <p:cxnSp>
        <p:nvCxnSpPr>
          <p:cNvPr id="39" name="Łącznik prosty 38"/>
          <p:cNvCxnSpPr/>
          <p:nvPr/>
        </p:nvCxnSpPr>
        <p:spPr>
          <a:xfrm rot="5400000">
            <a:off x="2737632" y="3786178"/>
            <a:ext cx="6144438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ole tekstowe 39"/>
          <p:cNvSpPr txBox="1"/>
          <p:nvPr/>
        </p:nvSpPr>
        <p:spPr>
          <a:xfrm>
            <a:off x="1090512" y="46141"/>
            <a:ext cx="371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Typowa organizacja (layout) pamięci RAM  w mikrokontrolerach</a:t>
            </a:r>
          </a:p>
        </p:txBody>
      </p:sp>
      <p:sp>
        <p:nvSpPr>
          <p:cNvPr id="43" name="pole tekstowe 42"/>
          <p:cNvSpPr txBox="1"/>
          <p:nvPr/>
        </p:nvSpPr>
        <p:spPr>
          <a:xfrm>
            <a:off x="6096000" y="1"/>
            <a:ext cx="371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Wizualizacja jak wygląda to gdy dodamy system RTOS: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Okrężne planowanie zadań: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95670" y="1714488"/>
            <a:ext cx="5125166" cy="3801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680</Words>
  <Application>Microsoft Office PowerPoint</Application>
  <PresentationFormat>Widescreen</PresentationFormat>
  <Paragraphs>69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Berlin Sans FB</vt:lpstr>
      <vt:lpstr>Calibri</vt:lpstr>
      <vt:lpstr>Wingdings</vt:lpstr>
      <vt:lpstr>Motyw pakietu Office</vt:lpstr>
      <vt:lpstr>Napiszmy własnego RTOS’a! OD ZERA! STM32 Cortex-M4 Own RTOS!</vt:lpstr>
      <vt:lpstr>Jak wygląda zadanie (Task) w kodzie?</vt:lpstr>
      <vt:lpstr>Po co RTOS?  System operacyjny czasu rzeczywistego  (ang. Real-Time Operating System - RTOS) </vt:lpstr>
      <vt:lpstr>Napiszmy razem prosty system czasu rzeczywistego</vt:lpstr>
      <vt:lpstr>Dokumentacje mikrokontrolera:</vt:lpstr>
      <vt:lpstr>Page. 18</vt:lpstr>
      <vt:lpstr>PowerPoint Presentation</vt:lpstr>
      <vt:lpstr>PowerPoint Presentation</vt:lpstr>
      <vt:lpstr>PowerPoint Presentation</vt:lpstr>
      <vt:lpstr>Okrężne planowanie zadań: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Napiszmy własnego RTOS’a! OD ZERA! STM32 Cortex-M4 Own RTOS!</dc:title>
  <dc:creator>Teodor</dc:creator>
  <cp:lastModifiedBy>Teodor Rosolowski</cp:lastModifiedBy>
  <cp:revision>21</cp:revision>
  <dcterms:created xsi:type="dcterms:W3CDTF">2024-07-10T17:10:15Z</dcterms:created>
  <dcterms:modified xsi:type="dcterms:W3CDTF">2024-07-11T17:31:35Z</dcterms:modified>
</cp:coreProperties>
</file>